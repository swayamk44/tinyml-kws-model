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4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992" autoAdjust="0"/>
  </p:normalViewPr>
  <p:slideViewPr>
    <p:cSldViewPr snapToGrid="0">
      <p:cViewPr varScale="1">
        <p:scale>
          <a:sx n="76" d="100"/>
          <a:sy n="76" d="100"/>
        </p:scale>
        <p:origin x="6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5812-67F2-9F2E-A038-8B635D6EF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86B17-5E91-8A7A-121A-1DDA76F3B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98BC5-6E45-7E9E-573C-947A54B1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DB6B4-EFAF-CDCC-627B-78044335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B53D5-E486-968E-5E07-5C6C5AD0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6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E87A-4654-EB84-B104-CCC62A84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B2101-1B7D-B6CA-A35D-94559CDA0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1229-95FB-AE4A-5FA5-672BCB51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BFC9B-FF26-3F7D-0FA6-B7DF3DC2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19D27-AB70-1E23-6F93-14E7DBE7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81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B1A6-99CC-D8E5-B241-66C0807C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3FFA1-6F67-FF78-4699-08E3C4973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FE118-B4F5-77DA-2154-76D37166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9AE43-538A-7804-CAC6-75D7A3BE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4E08-0827-8F3D-7754-BBFA865E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1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EA69-150C-5C14-56A0-665759E9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149D-C73D-3FCC-407C-CDF9D1A45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9A845-F25F-EA7E-CC4A-ACA3B44D9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8E5DA-C31A-3CE6-0F25-9A16217B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26CB3-7EDA-9FB7-CE04-77AAF9B4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3E204-7337-1D9E-C7CA-C2F4443C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94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9D6E-E65B-5EDE-F8F0-44F731E8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1FA64-389F-9393-8333-CA6E65A8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69C1F-C0D6-E750-C52D-18EB4C07D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FE48E-EA9A-6B5E-C4B5-4E0AE2665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9FD3A3-AFDA-D835-54E3-72755E9CC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E0F88-5163-0A90-6613-46B56A3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0C68C-BEB5-DAE7-D4E4-D4DB901F0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0E29E-3EB6-1F1A-3689-8BC85FE4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8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CDDA-0C1A-F234-5E14-9A72D171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856C1-B0AA-5DF0-4749-6EB5F557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5FE26-58DF-FA94-043B-DC1001A7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F2CF-1309-DAEF-F48A-FA44C2CC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29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E4A9B-8C73-9C6F-D14D-DBCC27FE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ABF2-A208-AD74-5C19-F2F9E2C3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9D671-8E47-B4B1-4ECF-A10A0544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77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BFAD-FD0B-2445-7AB0-8600C260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13207-C506-5896-770F-EC9D9793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233D3-6700-3A1B-842F-CC81B6100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81B38-A89E-2D2E-3005-6589095F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257D9-C1E4-3054-0965-82351513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16A64-3521-EDDA-9BD7-CADE0F9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5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D77A-DDFD-D579-A90A-D4EFDA10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18CC7-B0C6-49AF-8CA3-E10C337D6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EEE36-60EF-0725-E65F-CF812675E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4FD51-8F50-98B8-3562-8EBC4629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C3E08-AA5D-4E53-B1CD-D4D876FC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F1436-EED8-C871-04F8-76712CA0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10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A090-2BCB-0F1A-D2B2-BE9CF6EB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FEDB5-D01C-3D54-CF65-9E49379EC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EC59-F239-8C3E-7D81-5EFA5214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AAF79-FE13-058C-84AC-29008948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1B555-35DB-2F34-E84A-0A49E26E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6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2666E-4C12-A6DD-7B57-35D0E4FB0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3292E-7934-6B5C-EEB2-645F68929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DB6A0-D50F-8F5F-257F-8AF9D6D3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BFE96-1127-EDE2-3040-D1C012AE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FAA95-E937-FBEE-1E5E-CA7DF667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21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19987-E4B7-3A8D-91B9-42263840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D916B-9F53-7580-7FAD-D3A58E46A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01CC8-24F7-8B62-E393-268DD077F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FB1D2-F6AD-4DAF-ACAC-2C7841B82D8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76555-1551-C474-DDA3-251D9132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64683-23A9-C20D-FB84-3806E9CB0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4803F-B4F8-4232-B6E7-888DBD8C5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B0E9-0A44-851E-55EE-8BB03048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" y="2766218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Real-Time-Voice-Activated-Emergency Detection System for Smart Factories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F156E-C948-0D46-79B1-31D2D455D47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563739" y="132225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9455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9DD1C-E7E0-0045-923A-A977C1A714B9}"/>
              </a:ext>
            </a:extLst>
          </p:cNvPr>
          <p:cNvSpPr txBox="1"/>
          <p:nvPr/>
        </p:nvSpPr>
        <p:spPr>
          <a:xfrm>
            <a:off x="1180106" y="1520786"/>
            <a:ext cx="98317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project introduces a real-time voice-controlled emergency detection system designed for smart factory environments.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</a:t>
            </a:r>
            <a:r>
              <a:rPr lang="en-US" sz="2000" dirty="0" err="1"/>
              <a:t>TinyML</a:t>
            </a:r>
            <a:r>
              <a:rPr lang="en-US" sz="2000" dirty="0"/>
              <a:t> deployed on a Raspberry Pi 4, the system continuously listens for the keyword “STOP” through a connected microphone.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Upon detecting the word, the Pi triggers an Arduino-based response unit that activates visual and audible alerts.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model, trained and quantized with TensorFlow Lite for efficient edge inference, ensures low-latency performance and offline functionality.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system demonstrates how edge AI and embedded voice recognition can enhance workplace safety through immediate and automated emergency response.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17100-0280-032C-A954-093D98FD6738}"/>
              </a:ext>
            </a:extLst>
          </p:cNvPr>
          <p:cNvSpPr txBox="1"/>
          <p:nvPr/>
        </p:nvSpPr>
        <p:spPr>
          <a:xfrm>
            <a:off x="1049572" y="368055"/>
            <a:ext cx="2448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Introduction</a:t>
            </a:r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8F156E-C948-0D46-79B1-31D2D455D47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349053" y="-82153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5991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570E-8A28-C971-97A3-7AFFE669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90D79F-2F37-D95F-6B01-294E97E71C2A}"/>
              </a:ext>
            </a:extLst>
          </p:cNvPr>
          <p:cNvSpPr txBox="1"/>
          <p:nvPr/>
        </p:nvSpPr>
        <p:spPr>
          <a:xfrm>
            <a:off x="683812" y="183389"/>
            <a:ext cx="3918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System Architecture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38F3BF-B165-3242-C998-6715E132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9" y="818263"/>
            <a:ext cx="10383856" cy="5766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4794CE-5261-64D1-D4E3-111A0F19511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349053" y="-82153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3760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DA21A7-4E8C-8942-AA6D-C20809B59977}"/>
              </a:ext>
            </a:extLst>
          </p:cNvPr>
          <p:cNvSpPr txBox="1"/>
          <p:nvPr/>
        </p:nvSpPr>
        <p:spPr>
          <a:xfrm>
            <a:off x="538480" y="74414"/>
            <a:ext cx="19735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  <a:p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E82F5-D0A2-F2A4-36A9-E8FD70172CE1}"/>
              </a:ext>
            </a:extLst>
          </p:cNvPr>
          <p:cNvSpPr txBox="1"/>
          <p:nvPr/>
        </p:nvSpPr>
        <p:spPr>
          <a:xfrm>
            <a:off x="548640" y="874633"/>
            <a:ext cx="1071372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Fully on-device Edge AI inference </a:t>
            </a:r>
            <a:r>
              <a:rPr lang="en-US" sz="2000" dirty="0"/>
              <a:t>ensures real-time response with zero cloud dependency, zero latency, and uninterrupted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Reliable during network failures</a:t>
            </a:r>
            <a:r>
              <a:rPr lang="en-US" sz="2000" dirty="0"/>
              <a:t> since processing happens entirely locally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Hands-free emergency activation</a:t>
            </a:r>
            <a:r>
              <a:rPr lang="en-US" sz="2000" dirty="0"/>
              <a:t>, useful when workers can’t reach physical switches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Complements vision-based defect detection systems</a:t>
            </a:r>
            <a:r>
              <a:rPr lang="en-US" sz="2000" dirty="0"/>
              <a:t>, forming a multi-layer safety solution.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Context aware decision making using all other environmental and instrumental data from sensors.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Privacy-preserving</a:t>
            </a:r>
            <a:r>
              <a:rPr lang="en-US" sz="2000" dirty="0"/>
              <a:t> (raw audio never leaves the device)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Highly customizable</a:t>
            </a:r>
            <a:r>
              <a:rPr lang="en-US" sz="2000" dirty="0"/>
              <a:t> to different keywords, accents, or factory needs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Works in noisy industrial environments</a:t>
            </a:r>
            <a:r>
              <a:rPr lang="en-US" sz="2000" dirty="0"/>
              <a:t> using MFCC + optimized </a:t>
            </a:r>
            <a:r>
              <a:rPr lang="en-US" sz="2000" dirty="0" err="1"/>
              <a:t>TinyML</a:t>
            </a:r>
            <a:r>
              <a:rPr lang="en-US" sz="2000" dirty="0"/>
              <a:t>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Enhances Industry 4.0 workflows</a:t>
            </a:r>
            <a:r>
              <a:rPr lang="en-US" sz="2000" dirty="0"/>
              <a:t> by combining safety, automation, and edge AI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8F156E-C948-0D46-79B1-31D2D455D47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1328" y="-25783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2511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B1B77-1D8A-315B-6A0F-8D63825BB24E}"/>
              </a:ext>
            </a:extLst>
          </p:cNvPr>
          <p:cNvSpPr txBox="1"/>
          <p:nvPr/>
        </p:nvSpPr>
        <p:spPr>
          <a:xfrm>
            <a:off x="449580" y="328077"/>
            <a:ext cx="4930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Existing systems and their limitations</a:t>
            </a:r>
          </a:p>
          <a:p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0C8CF-1593-A32C-C395-E95C67A17595}"/>
              </a:ext>
            </a:extLst>
          </p:cNvPr>
          <p:cNvSpPr txBox="1"/>
          <p:nvPr/>
        </p:nvSpPr>
        <p:spPr>
          <a:xfrm>
            <a:off x="449580" y="1143417"/>
            <a:ext cx="1042416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</a:t>
            </a:r>
            <a:r>
              <a:rPr lang="en-US" b="1" dirty="0"/>
              <a:t>emergency stop buttons</a:t>
            </a:r>
            <a:r>
              <a:rPr lang="en-US" dirty="0"/>
              <a:t> (E-Stop)</a:t>
            </a:r>
          </a:p>
          <a:p>
            <a:r>
              <a:rPr lang="en-IN" dirty="0"/>
              <a:t>Safety </a:t>
            </a:r>
            <a:r>
              <a:rPr lang="en-IN" b="1" dirty="0"/>
              <a:t>buzzer alarms</a:t>
            </a:r>
          </a:p>
          <a:p>
            <a:r>
              <a:rPr lang="en-IN" dirty="0"/>
              <a:t>CCTV-based monitoring systems</a:t>
            </a:r>
          </a:p>
          <a:p>
            <a:r>
              <a:rPr lang="en-US" dirty="0"/>
              <a:t>Manual supervision by safety officers</a:t>
            </a:r>
          </a:p>
          <a:p>
            <a:r>
              <a:rPr lang="en-US" dirty="0"/>
              <a:t>IoT systems requiring cloud connectivity</a:t>
            </a:r>
          </a:p>
          <a:p>
            <a:endParaRPr lang="en-US" dirty="0"/>
          </a:p>
          <a:p>
            <a:r>
              <a:rPr lang="en-US" sz="2400" b="1" dirty="0"/>
              <a:t>Limitations-</a:t>
            </a:r>
          </a:p>
          <a:p>
            <a:r>
              <a:rPr lang="en-US" sz="2000" dirty="0"/>
              <a:t>Workers may </a:t>
            </a:r>
            <a:r>
              <a:rPr lang="en-US" sz="2000" b="1" dirty="0"/>
              <a:t>not reach the E-stop button</a:t>
            </a:r>
            <a:r>
              <a:rPr lang="en-US" sz="2000" dirty="0"/>
              <a:t> during emergencies (hands fixed, pinned, unconscious, etc.)</a:t>
            </a:r>
          </a:p>
          <a:p>
            <a:r>
              <a:rPr lang="en-US" sz="2000" dirty="0"/>
              <a:t>Not adaptive to different accents or dynamic conditions</a:t>
            </a:r>
          </a:p>
          <a:p>
            <a:r>
              <a:rPr lang="en-US" sz="2000" b="1" dirty="0"/>
              <a:t>Manual activation only</a:t>
            </a:r>
            <a:r>
              <a:rPr lang="en-US" sz="2000" dirty="0"/>
              <a:t>, no hands-free option</a:t>
            </a:r>
          </a:p>
          <a:p>
            <a:r>
              <a:rPr lang="en-US" sz="2000" dirty="0"/>
              <a:t>IoT/cloud systems </a:t>
            </a:r>
            <a:r>
              <a:rPr lang="en-US" sz="2000" b="1" dirty="0"/>
              <a:t>fail during network outages</a:t>
            </a:r>
          </a:p>
          <a:p>
            <a:r>
              <a:rPr lang="en-US" sz="2000" dirty="0"/>
              <a:t>Expensive industrial AI voice systems</a:t>
            </a:r>
          </a:p>
          <a:p>
            <a:r>
              <a:rPr lang="en-IN" sz="2000" b="1" dirty="0"/>
              <a:t>No context aware decision 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F156E-C948-0D46-79B1-31D2D455D47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18404" y="68614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68245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1B403-8069-03C7-A519-A374BF9337C7}"/>
              </a:ext>
            </a:extLst>
          </p:cNvPr>
          <p:cNvSpPr txBox="1"/>
          <p:nvPr/>
        </p:nvSpPr>
        <p:spPr>
          <a:xfrm>
            <a:off x="495300" y="533400"/>
            <a:ext cx="107746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System Details-</a:t>
            </a:r>
          </a:p>
          <a:p>
            <a:endParaRPr lang="en-IN" dirty="0"/>
          </a:p>
          <a:p>
            <a:r>
              <a:rPr lang="en-US" dirty="0"/>
              <a:t>On-device keyword spotting (</a:t>
            </a:r>
            <a:r>
              <a:rPr lang="en-US" b="1" dirty="0"/>
              <a:t>“STOP”</a:t>
            </a:r>
            <a:r>
              <a:rPr lang="en-US" dirty="0"/>
              <a:t>) using Raspberry Pi</a:t>
            </a:r>
          </a:p>
          <a:p>
            <a:r>
              <a:rPr lang="en-US" dirty="0"/>
              <a:t>Audio captured via microphone → processed locally</a:t>
            </a:r>
          </a:p>
          <a:p>
            <a:r>
              <a:rPr lang="en-US" dirty="0"/>
              <a:t>MFCC feature extraction for compact audio representation</a:t>
            </a:r>
          </a:p>
          <a:p>
            <a:r>
              <a:rPr lang="en-US" dirty="0" err="1"/>
              <a:t>TinyML</a:t>
            </a:r>
            <a:r>
              <a:rPr lang="en-US" dirty="0"/>
              <a:t> model runs fully offline for real-time inference</a:t>
            </a:r>
          </a:p>
          <a:p>
            <a:r>
              <a:rPr lang="en-US" dirty="0"/>
              <a:t>Detects keyword and send an alert</a:t>
            </a:r>
          </a:p>
          <a:p>
            <a:endParaRPr lang="en-US" dirty="0"/>
          </a:p>
          <a:p>
            <a:r>
              <a:rPr lang="en-US" sz="2400" b="1" dirty="0"/>
              <a:t>Techniques Used-</a:t>
            </a:r>
          </a:p>
          <a:p>
            <a:endParaRPr lang="en-US" sz="2400" b="1" dirty="0"/>
          </a:p>
          <a:p>
            <a:r>
              <a:rPr lang="en-IN" dirty="0"/>
              <a:t>Digital Signal Processing (</a:t>
            </a:r>
            <a:r>
              <a:rPr lang="en-IN" b="1" dirty="0"/>
              <a:t>MFCC extraction</a:t>
            </a:r>
            <a:r>
              <a:rPr lang="en-IN" dirty="0"/>
              <a:t>)</a:t>
            </a:r>
          </a:p>
          <a:p>
            <a:r>
              <a:rPr lang="en-US" dirty="0"/>
              <a:t>Lightweight neural network for KWS</a:t>
            </a:r>
          </a:p>
          <a:p>
            <a:r>
              <a:rPr lang="en-US" dirty="0"/>
              <a:t>Real-time, edge-based inference (no cloud)</a:t>
            </a:r>
          </a:p>
          <a:p>
            <a:r>
              <a:rPr lang="en-IN" dirty="0"/>
              <a:t>Wireless microcontroller communication</a:t>
            </a:r>
          </a:p>
          <a:p>
            <a:r>
              <a:rPr lang="en-US" dirty="0" err="1"/>
              <a:t>TinyML</a:t>
            </a:r>
            <a:r>
              <a:rPr lang="en-US" dirty="0"/>
              <a:t> optimization for low-latency response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8F156E-C948-0D46-79B1-31D2D455D47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539885" y="83192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7991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ADF9EA2-9286-2C95-3D4E-780E8F6B2660}"/>
              </a:ext>
            </a:extLst>
          </p:cNvPr>
          <p:cNvSpPr/>
          <p:nvPr/>
        </p:nvSpPr>
        <p:spPr>
          <a:xfrm>
            <a:off x="533400" y="865331"/>
            <a:ext cx="10690860" cy="117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A04D48-5F47-83BE-C80D-9E1D0B07A884}"/>
              </a:ext>
            </a:extLst>
          </p:cNvPr>
          <p:cNvSpPr txBox="1"/>
          <p:nvPr/>
        </p:nvSpPr>
        <p:spPr>
          <a:xfrm>
            <a:off x="533400" y="339587"/>
            <a:ext cx="932688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IN" dirty="0"/>
              <a:t>🔷 Raw Audio</a:t>
            </a:r>
          </a:p>
          <a:p>
            <a:r>
              <a:rPr lang="en-IN" dirty="0"/>
              <a:t>    Shape: (16000,)</a:t>
            </a:r>
          </a:p>
          <a:p>
            <a:r>
              <a:rPr lang="en-IN" dirty="0"/>
              <a:t>    Duration: 1.00 sec</a:t>
            </a:r>
          </a:p>
          <a:p>
            <a:endParaRPr lang="en-IN" dirty="0"/>
          </a:p>
          <a:p>
            <a:r>
              <a:rPr lang="en-IN" dirty="0"/>
              <a:t>🔶 STFT Magnitude Spectrogram</a:t>
            </a:r>
          </a:p>
          <a:p>
            <a:r>
              <a:rPr lang="en-IN" dirty="0"/>
              <a:t>    STFT shape: (49, 321)</a:t>
            </a:r>
          </a:p>
          <a:p>
            <a:r>
              <a:rPr lang="en-IN" dirty="0"/>
              <a:t>    Spectrogram shape: (49, 321)</a:t>
            </a:r>
          </a:p>
          <a:p>
            <a:endParaRPr lang="en-IN" dirty="0"/>
          </a:p>
          <a:p>
            <a:r>
              <a:rPr lang="en-IN" dirty="0"/>
              <a:t> 🔷 Mel Spectrogram</a:t>
            </a:r>
          </a:p>
          <a:p>
            <a:r>
              <a:rPr lang="en-IN" dirty="0"/>
              <a:t>    Mel Spectrogram shape: (49, 40)</a:t>
            </a:r>
          </a:p>
          <a:p>
            <a:endParaRPr lang="en-IN" dirty="0"/>
          </a:p>
          <a:p>
            <a:r>
              <a:rPr lang="en-IN" dirty="0"/>
              <a:t> 🔶 Log-Mel Spectrogram</a:t>
            </a:r>
          </a:p>
          <a:p>
            <a:r>
              <a:rPr lang="en-IN" dirty="0"/>
              <a:t>    Log-Mel shape: (49, 40)</a:t>
            </a:r>
          </a:p>
          <a:p>
            <a:endParaRPr lang="en-IN" dirty="0"/>
          </a:p>
          <a:p>
            <a:r>
              <a:rPr lang="en-IN" dirty="0"/>
              <a:t> 🔷 MFCCs (13 coefficients)</a:t>
            </a:r>
          </a:p>
          <a:p>
            <a:r>
              <a:rPr lang="en-IN" dirty="0"/>
              <a:t>    MFCC shape: (49, 13)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D7476-C2AA-B07B-3859-686A4F687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60" y="2124459"/>
            <a:ext cx="4137669" cy="159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D5E895-DC0E-C313-72DF-E69A08585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71" y="2110790"/>
            <a:ext cx="4137669" cy="159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F1733A-DE62-E073-87BA-7E1D51D54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17" y="3717040"/>
            <a:ext cx="4137669" cy="1592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2B2064-3D46-394B-3B78-19EEF439C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716" y="5181592"/>
            <a:ext cx="4137669" cy="1622153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0DE311A-E275-5C53-96A4-D177FF308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74779"/>
              </p:ext>
            </p:extLst>
          </p:nvPr>
        </p:nvGraphicFramePr>
        <p:xfrm>
          <a:off x="533400" y="865331"/>
          <a:ext cx="10515600" cy="10972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2879255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83633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276396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20949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90362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Preprocessing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Inference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56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TensorFlow (.h5)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105 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124 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~2–3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5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TFLite Quantized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19–26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0.5 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20–27 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80 KB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83926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FCFD78-4CD6-E346-5E70-3865FC076EAB}"/>
              </a:ext>
            </a:extLst>
          </p:cNvPr>
          <p:cNvCxnSpPr>
            <a:cxnSpLocks/>
          </p:cNvCxnSpPr>
          <p:nvPr/>
        </p:nvCxnSpPr>
        <p:spPr>
          <a:xfrm flipV="1">
            <a:off x="533400" y="1175050"/>
            <a:ext cx="10690860" cy="13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F6165A-A46D-69DA-567C-E4F5C00FC5BD}"/>
              </a:ext>
            </a:extLst>
          </p:cNvPr>
          <p:cNvCxnSpPr>
            <a:cxnSpLocks/>
          </p:cNvCxnSpPr>
          <p:nvPr/>
        </p:nvCxnSpPr>
        <p:spPr>
          <a:xfrm>
            <a:off x="2528515" y="865331"/>
            <a:ext cx="0" cy="117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FDF97E-288D-AB04-2194-A58BA8285E23}"/>
              </a:ext>
            </a:extLst>
          </p:cNvPr>
          <p:cNvCxnSpPr>
            <a:cxnSpLocks/>
          </p:cNvCxnSpPr>
          <p:nvPr/>
        </p:nvCxnSpPr>
        <p:spPr>
          <a:xfrm>
            <a:off x="4597180" y="865331"/>
            <a:ext cx="0" cy="117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46B9F6-6A53-C6E2-EC48-3E63DAC9299E}"/>
              </a:ext>
            </a:extLst>
          </p:cNvPr>
          <p:cNvCxnSpPr>
            <a:cxnSpLocks/>
          </p:cNvCxnSpPr>
          <p:nvPr/>
        </p:nvCxnSpPr>
        <p:spPr>
          <a:xfrm>
            <a:off x="6489590" y="865331"/>
            <a:ext cx="0" cy="117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4A10D3-0F7B-1717-4774-23644FED4724}"/>
              </a:ext>
            </a:extLst>
          </p:cNvPr>
          <p:cNvCxnSpPr>
            <a:cxnSpLocks/>
          </p:cNvCxnSpPr>
          <p:nvPr/>
        </p:nvCxnSpPr>
        <p:spPr>
          <a:xfrm>
            <a:off x="8644393" y="865331"/>
            <a:ext cx="0" cy="117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208F156E-C948-0D46-79B1-31D2D455D47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9615729" y="-35085"/>
            <a:ext cx="2510672" cy="90041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195774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2715</TotalTime>
  <Words>483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Real-Time-Voice-Activated-Emergency Detection System for Smart Factories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IMT2023615 Swayam Vishal Kotecha</dc:creator>
  <cp:lastModifiedBy>Sasirekha GVK</cp:lastModifiedBy>
  <cp:revision>3</cp:revision>
  <dcterms:created xsi:type="dcterms:W3CDTF">2025-11-15T08:10:05Z</dcterms:created>
  <dcterms:modified xsi:type="dcterms:W3CDTF">2025-11-17T05:40:06Z</dcterms:modified>
</cp:coreProperties>
</file>